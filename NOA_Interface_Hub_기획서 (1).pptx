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548640"/>
            <a:ext cx="3474720" cy="347472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040880" y="91440"/>
            <a:ext cx="2194560" cy="219456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589520" y="640080"/>
            <a:ext cx="1097280" cy="1097280"/>
          </a:xfrm>
          <a:prstGeom prst="ellipse">
            <a:avLst/>
          </a:prstGeom>
          <a:solidFill>
            <a:srgbClr val="60A5FA">
              <a:alpha val="30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822960"/>
            <a:ext cx="329184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8229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노아에이티에스(주) 공채 15기 2차  ·  개발 기획서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Interface Hub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BEAFE"/>
                </a:solidFill>
              </a:rPr>
              <a:t>보험사 금융 IT 인터페이스 통합관리시스템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BEAFE"/>
                </a:solidFill>
              </a:rPr>
              <a:t>흩어진 인터페이스를 하나의 관제 플랫폼으로.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BEAFE"/>
                </a:solidFill>
              </a:rPr>
              <a:t>등록부터 모니터링·장애 분석까지, 운영자의 피로를 줄이는 개발 제안.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234440" cy="347472"/>
          </a:xfrm>
          <a:prstGeom prst="rect">
            <a:avLst>
              <a:gd name="adj" fmla="val 13158"/>
            </a:avLst>
          </a:prstGeom>
          <a:solidFill>
            <a:srgbClr val="14284A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FastAPI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84248" y="4160520"/>
            <a:ext cx="1234440" cy="347472"/>
          </a:xfrm>
          <a:prstGeom prst="rect">
            <a:avLst>
              <a:gd name="adj" fmla="val 13158"/>
            </a:avLst>
          </a:prstGeom>
          <a:solidFill>
            <a:srgbClr val="14284A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984248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Vue 3 + Vite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28416" y="4160520"/>
            <a:ext cx="1234440" cy="347472"/>
          </a:xfrm>
          <a:prstGeom prst="rect">
            <a:avLst>
              <a:gd name="adj" fmla="val 13158"/>
            </a:avLst>
          </a:prstGeom>
          <a:solidFill>
            <a:srgbClr val="14284A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28416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Vuetify 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72584" y="4160520"/>
            <a:ext cx="1234440" cy="347472"/>
          </a:xfrm>
          <a:prstGeom prst="rect">
            <a:avLst>
              <a:gd name="adj" fmla="val 13158"/>
            </a:avLst>
          </a:prstGeom>
          <a:solidFill>
            <a:srgbClr val="14284A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672584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PostgreSQL · Redis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16752" y="4160520"/>
            <a:ext cx="1234440" cy="347472"/>
          </a:xfrm>
          <a:prstGeom prst="rect">
            <a:avLst>
              <a:gd name="adj" fmla="val 13158"/>
            </a:avLst>
          </a:prstGeom>
          <a:solidFill>
            <a:srgbClr val="14284A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016752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LangChain + RAG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60920" y="4160520"/>
            <a:ext cx="1234440" cy="347472"/>
          </a:xfrm>
          <a:prstGeom prst="rect">
            <a:avLst>
              <a:gd name="adj" fmla="val 13158"/>
            </a:avLst>
          </a:prstGeom>
          <a:solidFill>
            <a:srgbClr val="14284A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60920" y="41605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Docker · GitHub Actions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786384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864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바이브코딩 방식  ·  AI 활용 개발  ·  Docker 컨테이너 배포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48646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제출자  박수산   ·   fasosan@gmail.com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3716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</a:rPr>
              <a:t>BACKGROUND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14600" y="13716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문제 정의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보험사 인터페이스 운영의 페인 포인트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" y="18470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84708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</a:rPr>
              <a:t>BACKGROUND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14600" y="184708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추진 필요성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84708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마이데이터 · 오픈뱅킹 시대, 지금 필요한 이유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22576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232257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3225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</a:rPr>
              <a:t>SERVICE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232257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서비스 개요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3225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NOA Interface Hub 가 제공하는 가치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27980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27980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</a:rPr>
              <a:t>SERVICE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7980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핵심 기능 4종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2798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등록 · 모니터링 · 장애 감지 · 로그 분석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273552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94360" y="3273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2735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</a:rPr>
              <a:t>DIFFERENTIATOR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327355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AI 기반 차별화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2735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RAG 기반 장애 원인 자동 분석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94360" y="37490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374904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</a:rPr>
              <a:t>TECHNICAL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514600" y="374904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시스템 아키텍처 · 기술 스택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3749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계층 구조 · 데이터 흐름 · DB 설계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224528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94360" y="42245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422452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</a:rPr>
              <a:t>EXECUTION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14600" y="42245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개발 로드맵 · 기대 효과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0" y="42245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Phase 1~3 실행 계획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01 / 17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01 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보험사 인터페이스 운영의 현주소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보험사는 외부 수십 개 기관과 연동된다. 그런데 그 연동들은 각자 따로 돌고, 따로 관리된다.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737360"/>
            <a:ext cx="109728" cy="13258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11D48"/>
                </a:solidFill>
              </a:rPr>
              <a:t>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</a:rPr>
              <a:t>프로토콜 파편화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3042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REST · SOAP · FTP · MQ 인터페이스가 기관별로 제각각.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담당자마다 관리 방식이 달라 인수인계가 어렵다.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09728" cy="13258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92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11D48"/>
                </a:solidFill>
              </a:rPr>
              <a:t>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</a:rPr>
              <a:t>장애 원인 파악 지연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3042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장애 발생 시 흩어진 로그를 수동으로 뒤져야 한다.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원인 확인까지 수 시간 ~ 반나절 소요.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246120"/>
            <a:ext cx="109728" cy="13258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11D48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</a:rPr>
              <a:t>SLA · 이력 관리 수작업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8130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응답시간 · 가동률 SLA 를 Excel 로 관리.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감독당국 보고 시 자료 재취합에 과다한 인력 투입.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109728" cy="132588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92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11D48"/>
                </a:solidFill>
              </a:rPr>
              <a:t>🔕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068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</a:rPr>
              <a:t>선제적 감지 불가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8130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장애가 터진 뒤에야 알게 된다.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이상 호출 패턴을 미리 포착할 수단이 없다.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02 / 17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02 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만들어야 하는가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3017520" cy="3383280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228600" dist="3810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60A5FA"/>
                </a:solidFill>
              </a:rPr>
              <a:t>OUTLOOK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인터페이스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수는 계속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늘어난다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411480" cy="36576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657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BEAFE"/>
                </a:solidFill>
              </a:rPr>
              <a:t>마이데이터·오픈뱅킹·헬스케어 연동이 확산되며 보험사의 대외 인터페이스 건수는 지속 증가 중. 관리 체계가 없으면 부담이 기하급수로 누적된다.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0" y="132588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94760" y="1417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1435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마이데이터 / 오픈뱅킹 확산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금융·비금융 데이터를 실시간으로 주고받는 인터페이스 수요가 급증. 기존 배치 중심 관리로는 대응 불가.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246888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794760" y="2560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2578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디지털보험 · 실시간 심사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실손·펫보험·여행자보험 등 모바일 즉시 가입 상품이 늘며 외부 의료·심사 기관과의 실시간 API 연동이 필수화.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61188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794760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34840" y="3721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4A"/>
                </a:solidFill>
              </a:rPr>
              <a:t>감독당국 전산사고 보고 강화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금감원 전산사고 보고 의무로 장애 이력·SLA·조치시간의 체계적 기록·조회가 필수. 수작업 관리는 리스크.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03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03  SERVICE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Interface Hub 는 무엇인가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14284A"/>
          </a:solidFill>
          <a:ln/>
          <a:effectLst>
            <a:outerShdw sx="100000" sy="100000" kx="0" ky="0" algn="bl" rotWithShape="0" blurRad="228600" dist="3810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보험사 내 모든 외부 연동을 한 곳에서 등록 · 실행 · 감시 · 분석하는 통합 관제 플랫폼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243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286000"/>
            <a:ext cx="2624328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554480" y="2788920"/>
            <a:ext cx="475488" cy="475488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554480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A"/>
                </a:solidFill>
              </a:rPr>
              <a:t>통합(UNIFY)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70332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프로토콜에 관계없이 하나의 UI 에서 관리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16052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2563EB"/>
                </a:solidFill>
              </a:rPr>
              <a:t>표준화된 등록·실행 인터페이스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64408" y="2286000"/>
            <a:ext cx="26243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64408" y="2286000"/>
            <a:ext cx="2624328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361688" y="2788920"/>
            <a:ext cx="475488" cy="475488"/>
          </a:xfrm>
          <a:prstGeom prst="ellipse">
            <a:avLst/>
          </a:prstGeom>
          <a:solidFill>
            <a:srgbClr val="CFF5F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61688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64408" y="338328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A"/>
                </a:solidFill>
              </a:rPr>
              <a:t>가시성(VISIBILITY)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01568" y="370332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호출 현황·응답시간·장애를 실시간 시각화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01568" y="416052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891B2"/>
                </a:solidFill>
              </a:rPr>
              <a:t>대시보드 + WebSocket 실시간 스트림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71616" y="2286000"/>
            <a:ext cx="26243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071616" y="2286000"/>
            <a:ext cx="2624328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168896" y="2788920"/>
            <a:ext cx="475488" cy="475488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68896" y="2788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▲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71616" y="338328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A"/>
                </a:solidFill>
              </a:rPr>
              <a:t>지능화(INTELLIGENCE)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08776" y="370332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AI 가 이상 징후를 감지하고 원인을 추론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08776" y="4160520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F59E0B"/>
                </a:solidFill>
              </a:rPr>
              <a:t>RAG 기반 장애 분석 어시스턴트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04 /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04  SERVICE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4종 —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43891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444752"/>
            <a:ext cx="502920" cy="292608"/>
          </a:xfrm>
          <a:prstGeom prst="rect">
            <a:avLst>
              <a:gd name="adj" fmla="val 15625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444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인터페이스 등록 · 실행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1993392"/>
            <a:ext cx="73152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1901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REST / SOAP / FTP / MQ 통합 등록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295144"/>
            <a:ext cx="73152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22037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스케줄 · 수동 실행 모두 지원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73152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2505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파라미터·인증 정보 안전 저장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43891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800600" y="1444752"/>
            <a:ext cx="502920" cy="292608"/>
          </a:xfrm>
          <a:prstGeom prst="rect">
            <a:avLst>
              <a:gd name="adj" fmla="val 15625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0600" y="14447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실시간 모니터링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846320" y="1993392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83480" y="1901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호출 성공/실패 건수 실시간 집계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295144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83480" y="22037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응답시간 · 지연 · 처리량 그래프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596896"/>
            <a:ext cx="73152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983480" y="250545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WebSocket 기반 라이브 스트림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0632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3063240"/>
            <a:ext cx="4023360" cy="43891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94360" y="3136392"/>
            <a:ext cx="502920" cy="292608"/>
          </a:xfrm>
          <a:prstGeom prst="rect">
            <a:avLst>
              <a:gd name="adj" fmla="val 15625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94360" y="3136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장애 감지 · 알림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3685032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77240" y="3593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임계값 기반 자동 감지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986784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7240" y="3895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오류 유형 자동 분류 (타임아웃·인증·데이터)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288536"/>
            <a:ext cx="73152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724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이메일 · Slack 즉시 알림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063240"/>
            <a:ext cx="40233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663440" y="3063240"/>
            <a:ext cx="4023360" cy="43891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800600" y="3136392"/>
            <a:ext cx="502920" cy="292608"/>
          </a:xfrm>
          <a:prstGeom prst="rect">
            <a:avLst>
              <a:gd name="adj" fmla="val 15625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800600" y="3136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9496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로그 · SLA 분석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4846320" y="3685032"/>
            <a:ext cx="73152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983480" y="3593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전체 호출 로그 중앙 수집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3986784"/>
            <a:ext cx="73152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983480" y="3895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키워드 · 기간 · 프로토콜 복합 검색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46320" y="4288536"/>
            <a:ext cx="73152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983480" y="4197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SLA 달성률 자동 집계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05 / 17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04  SERVICE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상세 ①  인터페이스 등록 · 실시간 모니터링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인터페이스 등록 · 실행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통합 등록 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프로토콜 타입 · 엔드포인트 · 헤더 · 인증 방식을 하나의 UI 에서 등록. JSON 스키마 검증으로 설정 오류 방지.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스케줄 · 수동 실행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154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Cron 기반 정기 실행 + 관리자 임시 수동 실행. FastAPI BackgroundTasks 로 비동기 처리.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3152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인증정보 안전 저장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API Key · OAuth 토큰을 대칭 암호화(AES-GCM)로 DB 저장. 평문 노출 차단.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0233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02336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4632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실시간 모니터링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01168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10912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실시간 대시보드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분 단위 호출 건수 · 성공률 · 평균 응답시간을 ApexCharts 로 시각화. 기관별 필터링 지원.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10912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WebSocket 라이브 스트림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912" y="3154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호출이 발생하는 즉시 화면에 반영. 장애 발생 시 운영자가 놓치지 않는 구조.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46320" y="384048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010912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히트맵 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시간대 × 인터페이스별 호출 빈도를 heatmap 으로 렌더링. 트래픽 피크 가시화.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06 / 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04  SERVICE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상세 ②  장애 감지 · 로그 분석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장애 감지 · 자동 알림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73152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04672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임계값 기반 자동 감지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응답시간·실패율이 설정 임계값 초과 시 자동 알람. 기관·인터페이스별 기준 개별 설정.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3152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오류 유형 자동 분류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154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Timeout · 인증 실패 · 데이터 포맷 · 서버 5xx 를 룰 기반으로 자동 분류해 대응 속도 향상.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73152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멀티채널 알림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이메일 + Slack Incoming Webhook 동시 발송. 야간·휴일에도 운영자 인지 가능.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0233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0233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4632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로그 · SLA 분석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01168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10912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중앙 로그 수집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2240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모든 호출의 Request/Response·상태코드·소요시간을 Postgres 에 적재. 감사 대응 근거 자료로 활용.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10912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고급 검색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10912" y="31546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키워드 · 기간 · 프로토콜 · 상태 조합 필터. 장애 분석·감독당국 보고 자료 생성에 즉시 활용.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46320" y="3840480"/>
            <a:ext cx="73152" cy="713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010912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A"/>
                </a:solidFill>
              </a:rPr>
              <a:t>SLA 달성률 리포트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4069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20" dirty="0">
                <a:solidFill>
                  <a:srgbClr val="475569"/>
                </a:solidFill>
              </a:rPr>
              <a:t>월간·분기 단위 가동률·평균 응답시간 자동 집계. 기관별 SLA 목표 대비 달성률 시각화.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07 / 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</a:rPr>
              <a:t>05 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기반 차별화  —  단순 모니터링을 넘어 원인 분석까지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383280"/>
          </a:xfrm>
          <a:prstGeom prst="rect">
            <a:avLst/>
          </a:prstGeom>
          <a:solidFill>
            <a:srgbClr val="14284A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28600" dist="3810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</a:rPr>
              <a:t>ML · 이상 탐지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호출 패턴을 학습해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비정상을 먼저 감지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697480"/>
            <a:ext cx="320040" cy="2743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83464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BEAFE"/>
                </a:solidFill>
              </a:rPr>
              <a:t>인터페이스별 과거 호출 분포(응답시간·빈도)를 학습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273552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2735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BEAFE"/>
                </a:solidFill>
              </a:rPr>
              <a:t>Isolation Forest 로 이상치 점수 계산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71246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7124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BEAFE"/>
                </a:solidFill>
              </a:rPr>
              <a:t>임계값 방식으로는 놓치는 "서서히 느려지는" 장애 포착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315968"/>
            <a:ext cx="3657600" cy="292608"/>
          </a:xfrm>
          <a:prstGeom prst="rect">
            <a:avLst>
              <a:gd name="adj" fmla="val 15625"/>
            </a:avLst>
          </a:prstGeom>
          <a:solidFill>
            <a:srgbClr val="0A1F3D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5800" y="4315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scikit-learn  ·  pandas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3383280"/>
          </a:xfrm>
          <a:prstGeom prst="rect">
            <a:avLst/>
          </a:prstGeom>
          <a:solidFill>
            <a:srgbClr val="14284A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28600" dist="3810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920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</a:rPr>
              <a:t>LLM + RAG · 원인 분석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828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과거 장애 이력에서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유사 사례를 자동 검색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892040" y="2697480"/>
            <a:ext cx="320040" cy="2743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92040" y="2834640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834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BEAFE"/>
                </a:solidFill>
              </a:rPr>
              <a:t>장애 이력·조치 로그를 임베딩해 FAISS VectorDB 에 저장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273552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2735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BEAFE"/>
                </a:solidFill>
              </a:rPr>
              <a:t>신규 장애 발생 시 유사도 Top-N 사례를 자동 제시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712464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7124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BEAFE"/>
                </a:solidFill>
              </a:rPr>
              <a:t>LangChain 체인으로 "원인 가설 + 권장 조치" 자연어 요약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4315968"/>
            <a:ext cx="3657600" cy="292608"/>
          </a:xfrm>
          <a:prstGeom prst="rect">
            <a:avLst>
              <a:gd name="adj" fmla="val 15625"/>
            </a:avLst>
          </a:prstGeom>
          <a:solidFill>
            <a:srgbClr val="0A1F3D"/>
          </a:solidFill>
          <a:ln w="9525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92040" y="4315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LangChain  ·  FAISS  ·  OpenAI 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08 / 17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05 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장애 분석  —  파이프라인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71600"/>
            <a:ext cx="153619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1536192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716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4A"/>
                </a:solidFill>
              </a:rPr>
              <a:t>장애 이력 수집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이력·조치·로그를 정형화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93392" y="20116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30552" y="1371600"/>
            <a:ext cx="153619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130552" y="1371600"/>
            <a:ext cx="1536192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30552" y="13716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21992" y="17830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4A"/>
                </a:solidFill>
              </a:rPr>
              <a:t>임베딩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21992" y="21945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OpenAI Embedding 변환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66744" y="20116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03904" y="1371600"/>
            <a:ext cx="153619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803904" y="1371600"/>
            <a:ext cx="1536192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03904" y="13716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95344" y="17830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4A"/>
                </a:solidFill>
              </a:rPr>
              <a:t>FAISS 저장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95344" y="21945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VectorDB 에 색인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40096" y="20116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77256" y="1371600"/>
            <a:ext cx="153619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77256" y="1371600"/>
            <a:ext cx="1536192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77256" y="13716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68696" y="17830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4A"/>
                </a:solidFill>
              </a:rPr>
              <a:t>유사 사례 검색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68696" y="21945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신규 장애 Query 로 Top-K 조회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13448" y="20116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50608" y="1371600"/>
            <a:ext cx="1536192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50608" y="1371600"/>
            <a:ext cx="1536192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150608" y="13716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⑤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178308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84A"/>
                </a:solidFill>
              </a:rPr>
              <a:t>LLM 요약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42048" y="2194560"/>
            <a:ext cx="1353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원인 가설 + 조치안 자연어 생성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14284A"/>
          </a:solidFill>
          <a:ln/>
          <a:effectLst>
            <a:outerShdw sx="100000" sy="100000" kx="0" ky="0" algn="bl" rotWithShape="0" blurRad="228600" dist="3810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85800" y="3218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</a:rPr>
              <a:t>EXAMPLE  —  운영자 경험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“보험개발원 연동 API 가 오늘 오후 3시 이후 응답 지연 중이야. 원인 분석해줘.”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3931920"/>
            <a:ext cx="274320" cy="2743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▶ FAISS 가 "2025-03 유사 지연 장애(원인: 상대방 SSL 인증서 만료)" 를 Top-1 으로 반환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BEAFE"/>
                </a:solidFill>
              </a:rPr>
              <a:t>▶ LangChain 체인이 원인 가설과 SSL 만료일 확인 절차를 자연어로 운영자에게 제시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09 / 17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06  TECHNICAL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solidFill>
            <a:srgbClr val="1E3A6B"/>
          </a:solidFill>
          <a:ln/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2286000" cy="7315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(Browser)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527048"/>
            <a:ext cx="1271016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26080" y="15270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Vue 3 · Vite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06824" y="1527048"/>
            <a:ext cx="1010412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06824" y="1527048"/>
            <a:ext cx="10104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Vuetify 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26964" y="1527048"/>
            <a:ext cx="1097280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26964" y="15270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ApexCharts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148840"/>
            <a:ext cx="2286000" cy="7315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(FastAPI)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2350008"/>
            <a:ext cx="1097280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26080" y="23500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인터페이스 CRUD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33088" y="2350008"/>
            <a:ext cx="868680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33088" y="23500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스케줄러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11496" y="2350008"/>
            <a:ext cx="868680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11496" y="23500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로그 수집기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9904" y="2350008"/>
            <a:ext cx="1010412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89904" y="2350008"/>
            <a:ext cx="10104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WebSocket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2971800"/>
            <a:ext cx="2286000" cy="7315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Layer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(Python)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26080" y="3172968"/>
            <a:ext cx="1792224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926080" y="317296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scikit-learn 이상 탐지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28032" y="3172968"/>
            <a:ext cx="2052828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28032" y="3172968"/>
            <a:ext cx="20528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LangChain + FAISS RAG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14284A"/>
          </a:solidFill>
          <a:ln/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57200" y="3794760"/>
            <a:ext cx="2286000" cy="7315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436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Infra &amp; Data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436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(Container / Persistence)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0" y="3995928"/>
            <a:ext cx="868680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926080" y="39959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Docker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04488" y="3995928"/>
            <a:ext cx="1444752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904488" y="39959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GitHub Actions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58968" y="3995928"/>
            <a:ext cx="1792224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58968" y="399592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 · Redis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60920" y="3995928"/>
            <a:ext cx="1010412" cy="329184"/>
          </a:xfrm>
          <a:prstGeom prst="rect">
            <a:avLst>
              <a:gd name="adj" fmla="val 13889"/>
            </a:avLst>
          </a:prstGeom>
          <a:solidFill>
            <a:srgbClr val="FFFFFF">
              <a:alpha val="70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360920" y="3995928"/>
            <a:ext cx="10104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외부 API 연동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3716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3716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71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▼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06  TECHNICAL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바이브코딩 개발 방식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47548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4754880" cy="411480"/>
          </a:xfrm>
          <a:prstGeom prst="rect">
            <a:avLst/>
          </a:prstGeom>
          <a:solidFill>
            <a:srgbClr val="1428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기술 스택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466344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Vue 3 · Vite · Vuetify 3 · ApexCharts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FastAPI · SQLAlchemy · Pydantic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466344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788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AI / 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scikit-learn · LangChain · FAISS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PostgreSQL 15 · Redis 7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466344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703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Realtime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WebSocket (Starlette)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DevOps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Docker · GitHub Actions · Jenkins 호환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0" y="1325880"/>
            <a:ext cx="3291840" cy="3429000"/>
          </a:xfrm>
          <a:prstGeom prst="rect">
            <a:avLst/>
          </a:prstGeom>
          <a:solidFill>
            <a:srgbClr val="0A1F3D"/>
          </a:solidFill>
          <a:ln/>
          <a:effectLst>
            <a:outerShdw sx="100000" sy="100000" kx="0" ky="0" algn="bl" rotWithShape="0" blurRad="228600" dist="3810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5778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바이브코딩 개발 방식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7784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BEAFE"/>
                </a:solidFill>
              </a:rPr>
              <a:t>AI 를 활용해 설계-생성-검증을 빠르게 반복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217627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57784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25312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명세 → 코드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247802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DBEAFE"/>
                </a:solidFill>
              </a:rPr>
              <a:t>API 스펙·스키마를 자연어로 기술하면 LLM 이 보일러플레이트 생성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577840" y="301752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5778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25312" y="2990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즉시 검증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31927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DBEAFE"/>
                </a:solidFill>
              </a:rPr>
              <a:t>생성 코드를 pytest 로 즉시 검증, 실패 시 프롬프트 교정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5577840" y="385876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57784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25312" y="38313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 프로토타입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4160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DBEAFE"/>
                </a:solidFill>
              </a:rPr>
              <a:t>Vue 컴포넌트 초기안 생성 후 Vuetify 로 빠르게 대시보드 구성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06  TECHNICAL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흐름  —  인터페이스 호출 &amp; 장애 감지 시퀀스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371600"/>
            <a:ext cx="1527048" cy="34747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37160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운영자 (Browser)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52704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66444" y="1783080"/>
            <a:ext cx="0" cy="32004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103120" y="1371600"/>
            <a:ext cx="1527048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03120" y="137160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FastAPI Server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03120" y="1737360"/>
            <a:ext cx="152704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66644" y="1783080"/>
            <a:ext cx="0" cy="32004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03320" y="1371600"/>
            <a:ext cx="1527048" cy="34747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03320" y="137160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외부 기관 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03320" y="1737360"/>
            <a:ext cx="152704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66844" y="1783080"/>
            <a:ext cx="0" cy="32004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303520" y="1371600"/>
            <a:ext cx="1527048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03520" y="137160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Layer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1737360"/>
            <a:ext cx="152704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67044" y="1783080"/>
            <a:ext cx="0" cy="32004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527048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03720" y="137160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Notifier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1737360"/>
            <a:ext cx="152704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667244" y="1783080"/>
            <a:ext cx="0" cy="3200400"/>
          </a:xfrm>
          <a:prstGeom prst="line">
            <a:avLst/>
          </a:prstGeom>
          <a:noFill/>
          <a:ln w="9525">
            <a:solidFill>
              <a:srgbClr val="E2E8F0"/>
            </a:solidFill>
            <a:prstDash val="dash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266444" y="1965960"/>
            <a:ext cx="1600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66444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84A"/>
                </a:solidFill>
              </a:rPr>
              <a:t>① 인터페이스 실행 요청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66644" y="2331720"/>
            <a:ext cx="1600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866644" y="2103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84A"/>
                </a:solidFill>
              </a:rPr>
              <a:t>② 외부 API 호출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66644" y="2697480"/>
            <a:ext cx="1600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866644" y="2697480"/>
            <a:ext cx="1600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866644" y="2468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84A"/>
                </a:solidFill>
              </a:rPr>
              <a:t>③ 지연 응답(Timeout)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66644" y="3063240"/>
            <a:ext cx="32004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866644" y="2834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84A"/>
                </a:solidFill>
              </a:rPr>
              <a:t>④ 이상 탐지 + RAG 질의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66644" y="3429000"/>
            <a:ext cx="32004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866644" y="3429000"/>
            <a:ext cx="32004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866644" y="3200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84A"/>
                </a:solidFill>
              </a:rPr>
              <a:t>⑤ 유사 사례 + 조치안 반환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66644" y="3794760"/>
            <a:ext cx="48006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866644" y="356616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84A"/>
                </a:solidFill>
              </a:rPr>
              <a:t>⑥ Slack · 이메일 알림 발송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266444" y="4160520"/>
            <a:ext cx="64008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266444" y="4160520"/>
            <a:ext cx="64008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66444" y="3931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84A"/>
                </a:solidFill>
              </a:rPr>
              <a:t>⑦ 운영자 즉시 인지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06  TECHNICAL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설계  —  핵심 테이블 5종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474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325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인터페이스 마스터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36829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57860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schedule_cron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auth_type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291840" y="1325880"/>
            <a:ext cx="265176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29000" y="1325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call_logs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1691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호출 이력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1947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9000" y="2148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interface_id FK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3500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25511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752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2953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called_at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325880"/>
            <a:ext cx="26517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26480" y="1325880"/>
            <a:ext cx="2651760" cy="347472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63640" y="1325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1691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장애 이력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194767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157984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interface_id FK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36829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257860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detected_at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788920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resolved_at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299923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root_cause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57200" y="3566160"/>
            <a:ext cx="411480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94360" y="3566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sla_targets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94360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SLA 목표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14600" y="4187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interface_id FK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uptime_target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514600" y="44256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response_ms_target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56616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754880" y="3566160"/>
            <a:ext cx="4023360" cy="3474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9204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vector_cases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892040" y="39319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RAG 사례 VectorDB (FAISS)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41879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766560" y="418795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92040" y="44256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incident_id FK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66560" y="44256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resolution_text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17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07 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로드맵  —  Phase 1 ~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262432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2624328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</a:rPr>
              <a:t>PHASE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MVP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4284A"/>
                </a:solidFill>
              </a:rPr>
              <a:t>기본 CRUD + 실시간 모니터링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9144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인터페이스 등록 · 실행 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392424"/>
            <a:ext cx="9144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32644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호출 로그 수집 &amp; 검색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9144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4672" y="36484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실시간 대시보드 (WebSocket)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64408" y="1325880"/>
            <a:ext cx="262432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64408" y="1325880"/>
            <a:ext cx="2624328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47288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</a:rPr>
              <a:t>PHASE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47288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CORE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47288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4284A"/>
                </a:solidFill>
              </a:rPr>
              <a:t>장애 감지 + 알림 체계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47288" y="3008376"/>
            <a:ext cx="914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611880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임계값 기반 자동 감지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47288" y="3392424"/>
            <a:ext cx="914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611880" y="32644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오류 유형 자동 분류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47288" y="3776472"/>
            <a:ext cx="914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11880" y="36484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Slack · 이메일 멀티채널 알림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47288" y="4160520"/>
            <a:ext cx="9144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11880" y="40325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SLA 리포트 자동 생성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1325880"/>
            <a:ext cx="2624328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071616" y="1325880"/>
            <a:ext cx="2624328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54496" y="1353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</a:rPr>
              <a:t>PHASE 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54496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AI BOOST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54496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4284A"/>
                </a:solidFill>
              </a:rPr>
              <a:t>AI 기반 이상 감지 · RAG 분석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54496" y="3008376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19088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ML 이상 탐지 모델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54496" y="3392424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19088" y="32644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장애 이력 임베딩 · FAISS 색인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54496" y="3776472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19088" y="36484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LangChain 원인 분석 체인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54496" y="4160520"/>
            <a:ext cx="9144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419088" y="40325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운영자 질의 챗봇 UI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17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</a:rPr>
              <a:t>07  EXECUTION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325880"/>
            <a:ext cx="2624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25880"/>
            <a:ext cx="91440" cy="1828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</a:rPr>
              <a:t>70%↓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4A"/>
                </a:solidFill>
              </a:rPr>
              <a:t>장애 원인 파악 시간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RAG 유사 사례 자동 제시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325880"/>
            <a:ext cx="2624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64408" y="1325880"/>
            <a:ext cx="91440" cy="1828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38728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891B2"/>
                </a:solidFill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38728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4A"/>
                </a:solidFill>
              </a:rPr>
              <a:t>로그 &amp; 이력 중앙화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38728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감독당국 보고 자료 즉시 생성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325880"/>
            <a:ext cx="26243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71616" y="1325880"/>
            <a:ext cx="91440" cy="1828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45936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실시간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45936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4A"/>
                </a:solidFill>
              </a:rPr>
              <a:t>이상 징후 선제 인지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45936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ML 이상 탐지 + 자동 알림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solidFill>
            <a:srgbClr val="14284A"/>
          </a:solidFill>
          <a:ln/>
          <a:effectLst>
            <a:outerShdw sx="100000" sy="100000" kx="0" ky="0" algn="bl" rotWithShape="0" blurRad="228600" dist="38100" dir="5400000">
              <a:srgbClr val="0F172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3401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0A5FA"/>
                </a:solidFill>
              </a:rPr>
              <a:t>정성적 기대 효과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831336"/>
            <a:ext cx="73152" cy="7315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37216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인터페이스 담당자의 인수인계 비용 감소  —  등록 정보가 시스템 내 표준화되어 관리됨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85800" y="4142232"/>
            <a:ext cx="73152" cy="7315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2960" y="403250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운영자 피로도 완화  —  야간·휴일에도 자동 감지 + 멀티채널 알림으로 즉시 대응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4453128"/>
            <a:ext cx="73152" cy="7315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343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</a:rPr>
              <a:t>데이터 기반 의사결정  —  SLA 달성률·장애 추이를 근거로 개선 우선순위 도출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86384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NOA Interface Hub  ·  개발 기획서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766560" y="3017520"/>
            <a:ext cx="2926080" cy="29260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06640" y="3657600"/>
            <a:ext cx="1645920" cy="164592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60A5FA"/>
                </a:solidFill>
              </a:rPr>
              <a:t>CLOSING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흩어진 인터페이스를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하나의 관제 플랫폼으로.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48640" cy="36576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291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DBEAFE"/>
                </a:solidFill>
              </a:rPr>
              <a:t>NOA Interface Hub 는 보험사의 대외 연동 운영을</a:t>
            </a:r>
            <a:endParaRPr lang="en-US" sz="13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DBEAFE"/>
                </a:solidFill>
              </a:rPr>
              <a:t>단순화 · 가시화 · 지능화하는 개발 제안입니다.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0A5FA"/>
                </a:solidFill>
              </a:rPr>
              <a:t>CONTACT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박수산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423160" y="4498848"/>
            <a:ext cx="18288" cy="274320"/>
          </a:xfrm>
          <a:prstGeom prst="rect">
            <a:avLst/>
          </a:prstGeom>
          <a:solidFill>
            <a:srgbClr val="60A5FA">
              <a:alpha val="5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56032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/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4498848"/>
            <a:ext cx="18288" cy="274320"/>
          </a:xfrm>
          <a:prstGeom prst="rect">
            <a:avLst/>
          </a:prstGeom>
          <a:solidFill>
            <a:srgbClr val="60A5FA">
              <a:alpha val="5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6344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</a:rPr>
              <a:t>fasosan@gmail.com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노아에이티에스(주) 공채 15기 2차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NOA Interface Hub - 개발 기획서</dc:title>
  <dc:subject>PptxGenJS Presentation</dc:subject>
  <dc:creator>PptxGenJS</dc:creator>
  <cp:lastModifiedBy>PptxGenJS</cp:lastModifiedBy>
  <cp:revision>1</cp:revision>
  <dcterms:created xsi:type="dcterms:W3CDTF">2026-04-22T09:40:06Z</dcterms:created>
  <dcterms:modified xsi:type="dcterms:W3CDTF">2026-04-22T09:40:06Z</dcterms:modified>
</cp:coreProperties>
</file>